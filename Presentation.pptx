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5" r:id="rId3"/>
    <p:sldId id="257" r:id="rId4"/>
    <p:sldId id="266" r:id="rId5"/>
    <p:sldId id="267" r:id="rId6"/>
    <p:sldId id="268" r:id="rId7"/>
    <p:sldId id="269" r:id="rId8"/>
    <p:sldId id="270" r:id="rId9"/>
    <p:sldId id="258" r:id="rId10"/>
    <p:sldId id="259" r:id="rId11"/>
    <p:sldId id="271" r:id="rId12"/>
    <p:sldId id="272" r:id="rId13"/>
    <p:sldId id="273" r:id="rId14"/>
    <p:sldId id="260" r:id="rId15"/>
    <p:sldId id="274" r:id="rId16"/>
    <p:sldId id="275" r:id="rId17"/>
    <p:sldId id="276" r:id="rId18"/>
    <p:sldId id="277" r:id="rId19"/>
    <p:sldId id="278" r:id="rId20"/>
    <p:sldId id="279" r:id="rId21"/>
    <p:sldId id="261" r:id="rId22"/>
    <p:sldId id="280" r:id="rId23"/>
    <p:sldId id="262" r:id="rId24"/>
    <p:sldId id="281" r:id="rId25"/>
    <p:sldId id="286" r:id="rId26"/>
    <p:sldId id="287" r:id="rId27"/>
    <p:sldId id="282" r:id="rId28"/>
    <p:sldId id="263" r:id="rId29"/>
    <p:sldId id="283" r:id="rId30"/>
    <p:sldId id="284" r:id="rId31"/>
    <p:sldId id="285" r:id="rId32"/>
  </p:sldIdLst>
  <p:sldSz cx="14630400" cy="8229600"/>
  <p:notesSz cx="8229600" cy="14630400"/>
  <p:embeddedFontLst>
    <p:embeddedFont>
      <p:font typeface="Instrument Sans Medium" panose="020B0604020202020204" charset="0"/>
      <p:regular r:id="rId34"/>
    </p:embeddedFont>
    <p:embeddedFont>
      <p:font typeface="Instrument Sans Semi Bold" panose="020B0604020202020204" charset="0"/>
      <p:regular r:id="rId3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D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092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886C-7404-96EB-DC08-EBA6EDAC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9D329-7D4D-B69A-0297-E78776044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E0C51-D98E-AD0C-2070-8430EB553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7C16D-807D-4830-7C7A-8D0E64D60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12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BD84-D4A4-2AB8-68BF-F27B58C3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9A8E8-738D-D5C6-63D3-10BF7A24D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4D3DB-7A1B-8F44-47BB-7C7D88985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61C1-C3B6-60D8-AFAE-3B8C6CDC3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39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55EE-B786-DD1D-9F0D-68AE7CB5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1C65B-4D38-B587-D925-150EBE299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D3907-739F-965F-CCE2-58C68431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5F4BB-CF83-9AEB-94B6-9F9B0FA1FF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50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0C54-0FF9-048A-73F0-01A1167A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F198C-C571-EEC5-DAAF-9234A5BC3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BB088-A1C6-85D1-B87A-9E753FE66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F7616-DC6E-4549-5E65-56D5731F1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05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00FF-2361-514B-BE8A-44C1435D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BCDE5-DA49-C2D1-AFFA-25F8CC966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5529D-845A-D6F2-F527-52BF8AB33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747A0-539E-F7D8-24F7-739F997130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77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1F88A-6338-3390-7BC0-98DC9BD0A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FA451-7D54-DD65-489B-36A402688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99BBE-8F67-E719-073D-7BD5FBBCF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FF29-10C1-D3F9-C81D-64B92065C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43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A175-FB1B-0117-7177-42EB1C8E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23713-D3AF-137F-A284-5A4602A7A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6F20C-827E-D079-6731-1817FCAF2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D079-902C-82D0-692E-04257DCCE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92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9F6C-5EB4-EEEB-5B5A-E97804F0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D800C-76E7-E82B-13AD-337A203F6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BB4C94-1404-C1F6-0531-071832666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9D77A-BD87-2A53-7AB6-00EB03544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9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00F6-5398-951C-A7F4-9AFD595D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6F94B-C1E1-2480-63B4-BE0AD5459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EF550-B7DD-0385-DCB3-D9B58C0A4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8C094-479E-BE9B-E96D-5174B6E1F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5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1EAFF-8592-BD74-CFBD-C5FD7CAF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2DC3E-6295-CD3D-1B2A-8F610C3D6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72856-A8F8-170D-DF22-0F6891960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C863B-BB09-E874-5FAF-BC2C386237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85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9A2A-6833-5450-D594-3E61488D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F321-14E9-089D-4881-7C5BA29EA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7DF65-7BB8-EB80-E1E1-DAD9FE8F6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0B282-6DFC-317C-3EFA-F1DCCDE4F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71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Projet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BI: Analyse Performance Étudiants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 aperçu structuré du projet d'Intelligence d'Affaires visant à analyser la performance et l'engagement des étudiants.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5E0F07-84E1-7E4F-0D43-54C7186D4C12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88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Réalisé</a:t>
            </a: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Par: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200" y="2036264"/>
            <a:ext cx="340162" cy="34016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FDF64C-F8D3-3755-7FC2-6425B1A0D694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3B1128F-6AB2-F890-27CE-322A760738EA}"/>
              </a:ext>
            </a:extLst>
          </p:cNvPr>
          <p:cNvSpPr txBox="1"/>
          <p:nvPr/>
        </p:nvSpPr>
        <p:spPr>
          <a:xfrm>
            <a:off x="7315200" y="1855882"/>
            <a:ext cx="2161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>
                <a:solidFill>
                  <a:schemeClr val="tx2">
                    <a:lumMod val="50000"/>
                  </a:schemeClr>
                </a:solidFill>
              </a:rPr>
              <a:t>Dhia</a:t>
            </a:r>
            <a:r>
              <a:rPr lang="fr-FR" sz="32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fr-FR" sz="3200" b="1" dirty="0" err="1">
                <a:solidFill>
                  <a:schemeClr val="tx2">
                    <a:lumMod val="50000"/>
                  </a:schemeClr>
                </a:solidFill>
              </a:rPr>
              <a:t>Rezgui</a:t>
            </a:r>
            <a:endParaRPr lang="fr-FR"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927" y="438388"/>
            <a:ext cx="4753808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Feuille de Route du Projet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57927" y="1255514"/>
            <a:ext cx="637699" cy="956548"/>
          </a:xfrm>
          <a:prstGeom prst="roundRect">
            <a:avLst>
              <a:gd name="adj" fmla="val 3600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57238" y="1584365"/>
            <a:ext cx="23907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355050" y="1414939"/>
            <a:ext cx="230564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 : PRÉPARATION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55050" y="1759625"/>
            <a:ext cx="1271742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Configuration de l'environnement Databricks et préparation des données 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927" y="2371487"/>
            <a:ext cx="637699" cy="956548"/>
          </a:xfrm>
          <a:prstGeom prst="roundRect">
            <a:avLst>
              <a:gd name="adj" fmla="val 3600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57238" y="2700338"/>
            <a:ext cx="23907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355050" y="2530912"/>
            <a:ext cx="2290524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 : CONCEPTION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55050" y="2875597"/>
            <a:ext cx="1271742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Création du schéma conceptuel de l'entrepôt de données 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7927" y="3487460"/>
            <a:ext cx="637699" cy="956548"/>
          </a:xfrm>
          <a:prstGeom prst="roundRect">
            <a:avLst>
              <a:gd name="adj" fmla="val 3600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57238" y="3816310"/>
            <a:ext cx="23907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355050" y="3646884"/>
            <a:ext cx="3133368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 : IMPLÉMENTATION ETL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55050" y="3991570"/>
            <a:ext cx="1271742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Développement des Notebooks d'Extraction et de Transformation 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57927" y="4603433"/>
            <a:ext cx="637699" cy="956548"/>
          </a:xfrm>
          <a:prstGeom prst="roundRect">
            <a:avLst>
              <a:gd name="adj" fmla="val 3600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57238" y="4932283"/>
            <a:ext cx="23907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355050" y="4762857"/>
            <a:ext cx="2558415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4 : CALCUL DES KPI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55050" y="5107543"/>
            <a:ext cx="1271742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Dérivation des indicateurs clés de performance 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7927" y="5719405"/>
            <a:ext cx="637699" cy="956548"/>
          </a:xfrm>
          <a:prstGeom prst="roundRect">
            <a:avLst>
              <a:gd name="adj" fmla="val 360006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57238" y="6048256"/>
            <a:ext cx="23907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355050" y="5878830"/>
            <a:ext cx="2454831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5 : VISUALISATION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355050" y="6223516"/>
            <a:ext cx="12717423" cy="255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Exportation et création des tableaux de bord Power BI .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58DFE0-C230-CD38-F557-EF7F72E19082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A2B057-456D-D7C4-1AB7-E60D064E2DE8}"/>
              </a:ext>
            </a:extLst>
          </p:cNvPr>
          <p:cNvSpPr txBox="1"/>
          <p:nvPr/>
        </p:nvSpPr>
        <p:spPr>
          <a:xfrm>
            <a:off x="1261640" y="2829225"/>
            <a:ext cx="10602410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5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1 : PRÉPARATION</a:t>
            </a:r>
            <a:endParaRPr lang="en-US" sz="5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48FAC6-97A6-B2F1-CB2A-D1764F984066}"/>
              </a:ext>
            </a:extLst>
          </p:cNvPr>
          <p:cNvSpPr txBox="1"/>
          <p:nvPr/>
        </p:nvSpPr>
        <p:spPr>
          <a:xfrm>
            <a:off x="2534855" y="3698111"/>
            <a:ext cx="95606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Configuration de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l'environnement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Databricks et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préparation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des données .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CCF16-F49C-036B-2C66-D685E586E9FA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30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B7180AB-3820-1ACA-4E0C-F3FF1449C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37" y="1352408"/>
            <a:ext cx="12179926" cy="552478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F3F3DF8-6060-7D42-AFF5-DD838CE05059}"/>
              </a:ext>
            </a:extLst>
          </p:cNvPr>
          <p:cNvSpPr txBox="1"/>
          <p:nvPr/>
        </p:nvSpPr>
        <p:spPr>
          <a:xfrm>
            <a:off x="717630" y="694481"/>
            <a:ext cx="3467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Création d’un Cluster pour calcule: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3E788-8DEC-97FD-5FF1-3255C600C8DB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478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CD8B-D50E-58C8-A461-1CD258DE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E7AF033-C8C5-3B89-E099-D94EF807DBF6}"/>
              </a:ext>
            </a:extLst>
          </p:cNvPr>
          <p:cNvSpPr txBox="1"/>
          <p:nvPr/>
        </p:nvSpPr>
        <p:spPr>
          <a:xfrm>
            <a:off x="717630" y="694481"/>
            <a:ext cx="1974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Détails du Cluster 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53E0C9-BF08-FA98-49A8-FFCCFE46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852" y="1577844"/>
            <a:ext cx="10598695" cy="50739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DDB335-F3D9-75D3-29B6-443FEB378956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3681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DF0-0752-B413-DE2E-D3D1930E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88B7137-3B06-0466-A381-DA133E842BA9}"/>
              </a:ext>
            </a:extLst>
          </p:cNvPr>
          <p:cNvSpPr txBox="1"/>
          <p:nvPr/>
        </p:nvSpPr>
        <p:spPr>
          <a:xfrm>
            <a:off x="717630" y="694481"/>
            <a:ext cx="601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Création de </a:t>
            </a:r>
            <a:r>
              <a:rPr lang="fr-FR" b="1" dirty="0" err="1"/>
              <a:t>Schema</a:t>
            </a:r>
            <a:r>
              <a:rPr lang="fr-FR" b="1" dirty="0"/>
              <a:t>  et </a:t>
            </a:r>
            <a:r>
              <a:rPr lang="fr-FR" b="1" dirty="0" err="1"/>
              <a:t>Upload</a:t>
            </a:r>
            <a:r>
              <a:rPr lang="fr-FR" b="1" dirty="0"/>
              <a:t> des données dans </a:t>
            </a:r>
            <a:r>
              <a:rPr lang="fr-FR" b="1" dirty="0" err="1"/>
              <a:t>Databricks</a:t>
            </a:r>
            <a:r>
              <a:rPr lang="fr-FR" b="1" dirty="0"/>
              <a:t> 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7A83F33-812A-E6F7-5F6D-B20BB615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37" y="1339707"/>
            <a:ext cx="12179926" cy="55501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754912-BD82-0945-033E-99664E584C15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77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5557-D708-A3CC-17CC-3E1730460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1AB54BF-9B8E-68FB-19CE-FB1D00006B26}"/>
              </a:ext>
            </a:extLst>
          </p:cNvPr>
          <p:cNvSpPr txBox="1"/>
          <p:nvPr/>
        </p:nvSpPr>
        <p:spPr>
          <a:xfrm>
            <a:off x="1261640" y="2829225"/>
            <a:ext cx="10602410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950"/>
              </a:lnSpc>
              <a:buNone/>
            </a:pPr>
            <a:r>
              <a:rPr lang="en-US" sz="5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2 : CONCEPTION</a:t>
            </a:r>
            <a:endParaRPr lang="en-US" sz="5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F83F5C-18BF-356C-20EF-E81144072651}"/>
              </a:ext>
            </a:extLst>
          </p:cNvPr>
          <p:cNvSpPr txBox="1"/>
          <p:nvPr/>
        </p:nvSpPr>
        <p:spPr>
          <a:xfrm>
            <a:off x="2534855" y="3698111"/>
            <a:ext cx="95606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Création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du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schéma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conceptuel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</a:t>
            </a:r>
            <a:r>
              <a:rPr lang="en-US" sz="2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l'entrepôt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données .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902A29-7FB0-463E-EB58-CB29239A345B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81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7219" y="1366123"/>
            <a:ext cx="1341596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L'architecture est basée sur un schéma </a:t>
            </a:r>
            <a:r>
              <a:rPr lang="en-US" sz="13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</a:t>
            </a: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3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flocon</a:t>
            </a: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 </a:t>
            </a:r>
            <a:r>
              <a:rPr lang="en-US" sz="1350" dirty="0" err="1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neige</a:t>
            </a: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séparant les mesures quantitatives (Faits) du contexte descriptif (Dimensions).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07219" y="8334137"/>
            <a:ext cx="1341596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 modèle garantit une analyse rapide et flexible des données.</a:t>
            </a:r>
            <a:endParaRPr lang="en-US" sz="13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230CB6-2CCE-1D6D-504C-E2F2C6634694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79CC020-780D-F65A-562D-6800E2148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556" y="2338087"/>
            <a:ext cx="9907287" cy="50365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67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" y="3423047"/>
            <a:ext cx="7372112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Tables de Faits :</a:t>
            </a:r>
            <a:endParaRPr lang="en-US" sz="4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" y="4409956"/>
            <a:ext cx="121920" cy="306383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4409956"/>
            <a:ext cx="121920" cy="3063835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6440" y="4409956"/>
            <a:ext cx="121920" cy="306383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60A5F83-F7CB-2AC9-3161-3AEBF8FF43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409955"/>
            <a:ext cx="3435191" cy="3063835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4665BC79-D758-0E4A-29EF-F38E06BC20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5612" y="4409955"/>
            <a:ext cx="3435192" cy="306383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94798FC-F2F0-A528-6979-C28072D7AD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024" y="4409956"/>
            <a:ext cx="4039175" cy="306383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BF7B10F-1B6A-B4F4-2173-301A450B393B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F8791-93B5-71AD-11B7-5F78F23E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5D3A171-AF1D-9152-6309-2E5B32A8D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249074-8819-CEDA-D7A6-355A04743F6C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5EDBC21-3A77-9526-DC0B-D5A18C5DB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51" y="2500132"/>
            <a:ext cx="12548297" cy="547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97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830D-D9D0-62F9-2259-67EE53AE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5360050-D0C3-7A85-D6D8-C0AFC1521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12A39B-A5A2-678F-73F7-3535F31FFEDE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16175D-4CDF-9AE4-D5F6-016E17BDA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95" y="2296829"/>
            <a:ext cx="12627980" cy="578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3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08E0-A369-15E4-77EE-66599F41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A712105-B57D-C7C1-AAEC-A53AF03E6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10D946-89D8-7CA4-2939-D6ED0C78977C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38B1391-95D5-3233-A9F0-09244F3EF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76040"/>
            <a:ext cx="12813175" cy="587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78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434387"/>
            <a:ext cx="114195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Tables de Dimensions :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12137"/>
            <a:ext cx="453628" cy="4536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812137"/>
            <a:ext cx="453628" cy="4536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812137"/>
            <a:ext cx="453628" cy="45362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4922758"/>
            <a:ext cx="453628" cy="45362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1DDFF67-76A6-C91C-CFC6-8832306CFE70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09605D37-3C7D-854F-B7F6-8E5B2861304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0417" y="2313753"/>
            <a:ext cx="2267067" cy="200670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025A9FD-DD1F-E6B2-D303-8FF9DD10ED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3007" y="2313754"/>
            <a:ext cx="2267067" cy="200670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C39EC090-72B2-8F5E-11C3-D3A0030023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89988" y="2313754"/>
            <a:ext cx="2159111" cy="2006701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6D321C6C-C1A2-B651-78C7-50F21E5A5B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0417" y="4573048"/>
            <a:ext cx="2216264" cy="200670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544D650A-DCDD-DD14-680B-6EB3CE801F5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73006" y="4573048"/>
            <a:ext cx="2267067" cy="20067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EABC-3B87-AF72-005A-4DF54413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6D7270E-BD87-6183-859C-136B046E2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CD8847-9593-A6F8-FD9C-1E600F0E5B38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5837110-362F-D22F-E078-9AFF285EE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491" y="2372810"/>
            <a:ext cx="12072395" cy="550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83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871F-68FA-0DA5-9D3A-4919B514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42CA292-7379-F94B-63AC-D0294DB3C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55775F-8852-6C20-89E9-86A4E7F5C524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6D82B8-955D-2FA4-1F40-E63F37D99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767" y="2442259"/>
            <a:ext cx="12176567" cy="527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66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69897-D0C6-4968-53D7-EF5DBA28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B29DF84-FE1F-0DF5-4E8C-6D39062AC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67710F-7A6F-5BD4-DCAC-B351ECCF59BF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14045F-9844-05D0-385C-A53906D9F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342" y="2523281"/>
            <a:ext cx="12188142" cy="51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5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87BB-86DE-90B9-35B6-480184A8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1FC8643-25C6-6668-1069-FDDD685DA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39E175-0615-9EB6-29B8-E0291C567594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7AFA9A-0C74-8038-19A6-C2E0A8578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96" y="2407534"/>
            <a:ext cx="12477509" cy="554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24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DEA9D-19C7-405C-C6B2-FAD9A962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306653F-3F33-B529-BAF7-ABDAB10FA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371FAC-341C-0537-401A-96935A512C08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452CDF-C92C-0BC1-607D-66E7E3ECF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273" y="2303362"/>
            <a:ext cx="12720578" cy="56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11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D000-B624-8EEC-D50F-80BBCA00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BB21E02-16DD-73AE-15BF-BF64AE7230E4}"/>
              </a:ext>
            </a:extLst>
          </p:cNvPr>
          <p:cNvSpPr txBox="1"/>
          <p:nvPr/>
        </p:nvSpPr>
        <p:spPr>
          <a:xfrm>
            <a:off x="1261638" y="2829225"/>
            <a:ext cx="11470513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en-US" sz="5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3 : IMPLÉMENTATION   ETL</a:t>
            </a:r>
            <a:endParaRPr lang="en-US" sz="5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8D99AE9-ED4D-471C-BFA3-D464C9914AAC}"/>
              </a:ext>
            </a:extLst>
          </p:cNvPr>
          <p:cNvSpPr txBox="1"/>
          <p:nvPr/>
        </p:nvSpPr>
        <p:spPr>
          <a:xfrm>
            <a:off x="2534855" y="3698111"/>
            <a:ext cx="95606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Développement des Notebooks d'Extraction et de Transformation .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1FB103-F0A9-532E-A9F1-66AA01D678F8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571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2102" y="609530"/>
            <a:ext cx="13672185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 processus ETL (Extraction, Transformation, Chargement) est géré via deux Notebooks Python sur Databricks, utilisant PySpark pour la manipulation de grands volumes de données.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79108" y="1031992"/>
            <a:ext cx="2114431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Notebook 1 : EXTRACTION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9108" y="1475229"/>
            <a:ext cx="666916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Chargement des 8 fichiers CSV dans des DataFrames Spark. Vérification initiale de la qualité des données (comptage des lignes, valeurs manquantes).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89746" y="1031987"/>
            <a:ext cx="2643307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Notebook 2 : TRANSFORMATION &amp; LOADING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89746" y="1327380"/>
            <a:ext cx="666916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Création des tables de Dimensions (nettoyage des valeurs nulles) et des tables de Faits (calcul du statut Pass/Fail, ajout de colonnes dérivées).</a:t>
            </a:r>
            <a:endParaRPr lang="en-US" sz="105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C0C6ED8-F911-91A2-4164-273CBB1C2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18" y="2142780"/>
            <a:ext cx="6869087" cy="5913200"/>
          </a:xfrm>
          <a:prstGeom prst="rect">
            <a:avLst/>
          </a:prstGeom>
        </p:spPr>
      </p:pic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B2C0CCCF-79F9-D669-9C53-A95003E92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915" y="3828585"/>
            <a:ext cx="121920" cy="30638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962F82-993D-8FEE-22DA-77107E8772AC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26D7A79-5C66-E9DC-305F-D2D3ADF64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9745" y="2142780"/>
            <a:ext cx="6869087" cy="591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DDC3-9CB6-2DD8-43A8-123AE07A1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4A37F8E-3E82-695E-588D-DB97C97BA7E3}"/>
              </a:ext>
            </a:extLst>
          </p:cNvPr>
          <p:cNvSpPr txBox="1"/>
          <p:nvPr/>
        </p:nvSpPr>
        <p:spPr>
          <a:xfrm>
            <a:off x="1261638" y="2829225"/>
            <a:ext cx="11470513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en-US" sz="5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4 : CALCUL DES KPI</a:t>
            </a:r>
            <a:endParaRPr lang="en-US" sz="5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C90EA0-AFC3-C7C7-1AA1-23EA23ADFC67}"/>
              </a:ext>
            </a:extLst>
          </p:cNvPr>
          <p:cNvSpPr txBox="1"/>
          <p:nvPr/>
        </p:nvSpPr>
        <p:spPr>
          <a:xfrm>
            <a:off x="2534855" y="3698111"/>
            <a:ext cx="9560689" cy="37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Dérivation des indicateurs clés de performance .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FBC41E-8907-A356-8BB5-D106FD909CBF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9448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34660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Cinq KPI essentiels sont calculés pour évaluer la performance académique, l'engagement et les facteurs de risque des étudiants.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27559"/>
            <a:ext cx="13042821" cy="3717846"/>
          </a:xfrm>
          <a:prstGeom prst="roundRect">
            <a:avLst>
              <a:gd name="adj" fmla="val 256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01410" y="3335179"/>
            <a:ext cx="4342448" cy="2032754"/>
          </a:xfrm>
          <a:prstGeom prst="roundRect">
            <a:avLst>
              <a:gd name="adj" fmla="val 4687"/>
            </a:avLst>
          </a:prstGeom>
          <a:solidFill>
            <a:srgbClr val="E2E3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28224" y="35619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1 : Score Moyen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8224" y="4052411"/>
            <a:ext cx="35486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 académique et taux de réussite par module.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143857" y="3335179"/>
            <a:ext cx="4342567" cy="2032754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143857" y="3335179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710833" y="3561993"/>
            <a:ext cx="3203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2 : Engagement VLE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10833" y="4052411"/>
            <a:ext cx="320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Nombre total et moyen de clics par interaction et par étudiant.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4860369" y="4068008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2054" y="4209693"/>
            <a:ext cx="283488" cy="2834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486424" y="3335179"/>
            <a:ext cx="4342567" cy="2032754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9486424" y="3335179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10053399" y="3561993"/>
            <a:ext cx="30096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3 : Taux d'Abandon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53399" y="4052411"/>
            <a:ext cx="354877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Pourcentage d'étudiants "Withdrawn" par module et présentation.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9202936" y="4068008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4620" y="4209693"/>
            <a:ext cx="283488" cy="2834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01410" y="5367933"/>
            <a:ext cx="6513790" cy="1669852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801410" y="5367933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1028224" y="5594747"/>
            <a:ext cx="40541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4 : Impact Démographique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1028224" y="6085165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Analyse de la performance et du taux de réussite par genre et niveau d'éducation.</a:t>
            </a:r>
            <a:endParaRPr lang="en-US" sz="1750" dirty="0"/>
          </a:p>
        </p:txBody>
      </p:sp>
      <p:sp>
        <p:nvSpPr>
          <p:cNvPr id="24" name="Shape 20"/>
          <p:cNvSpPr/>
          <p:nvPr/>
        </p:nvSpPr>
        <p:spPr>
          <a:xfrm>
            <a:off x="7315200" y="5367933"/>
            <a:ext cx="6513790" cy="1669852"/>
          </a:xfrm>
          <a:prstGeom prst="rect">
            <a:avLst/>
          </a:prstGeom>
          <a:solidFill>
            <a:srgbClr val="E2E3E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7315200" y="5367933"/>
            <a:ext cx="30480" cy="1669852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7315200" y="5367933"/>
            <a:ext cx="6513790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3"/>
          <p:cNvSpPr/>
          <p:nvPr/>
        </p:nvSpPr>
        <p:spPr>
          <a:xfrm>
            <a:off x="7882176" y="5594747"/>
            <a:ext cx="41896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KPI 5 : Engagement par Activité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7882176" y="6085165"/>
            <a:ext cx="57200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Distribution des clics par type d'activité VLE (ex: Forum, Quiz).</a:t>
            </a:r>
            <a:endParaRPr lang="en-US" sz="1750" dirty="0"/>
          </a:p>
        </p:txBody>
      </p:sp>
      <p:sp>
        <p:nvSpPr>
          <p:cNvPr id="29" name="Shape 25"/>
          <p:cNvSpPr/>
          <p:nvPr/>
        </p:nvSpPr>
        <p:spPr>
          <a:xfrm>
            <a:off x="7031712" y="5919311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3397" y="6060996"/>
            <a:ext cx="283488" cy="28348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261B814-BA9B-DDB4-9763-6A0D968D159F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0811-19F6-2434-6EC4-25E7DB0C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3D1B0E1-0E1F-2479-41E3-8CF6D22E9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695CFC-234D-F9D3-9771-FEBE95A400FC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A116D4-8DBE-F217-6BD6-9022B9F7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80" y="2106592"/>
            <a:ext cx="13114116" cy="591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91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53D5-B7AF-01CD-5FBE-D19F75B38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CB9A62A-A3DD-7208-8292-AA91EDCBC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80CB31-416D-9867-6B4A-3B20DA2B136A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C46C380-9FB5-53A6-E78B-AB32093FF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80" y="2862900"/>
            <a:ext cx="13161040" cy="506575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64713F9-B0A5-29C8-63F6-0CF65D702C61}"/>
              </a:ext>
            </a:extLst>
          </p:cNvPr>
          <p:cNvSpPr txBox="1"/>
          <p:nvPr/>
        </p:nvSpPr>
        <p:spPr>
          <a:xfrm>
            <a:off x="734680" y="2303363"/>
            <a:ext cx="384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Téléchargement des KPIs sur Desktop :</a:t>
            </a:r>
          </a:p>
        </p:txBody>
      </p:sp>
    </p:spTree>
    <p:extLst>
      <p:ext uri="{BB962C8B-B14F-4D97-AF65-F5344CB8AC3E}">
        <p14:creationId xmlns:p14="http://schemas.microsoft.com/office/powerpoint/2010/main" val="2988069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305EF-4178-F334-CDB7-4D546879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226DFA3-8F56-CB2B-75CD-322D53F4D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90982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180568-5E12-DDC7-9BBE-AFEC6E8D9353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3A682F-14A7-F01A-A116-18DB204370D1}"/>
              </a:ext>
            </a:extLst>
          </p:cNvPr>
          <p:cNvSpPr txBox="1"/>
          <p:nvPr/>
        </p:nvSpPr>
        <p:spPr>
          <a:xfrm>
            <a:off x="734680" y="2303363"/>
            <a:ext cx="125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URL Direct: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C0F8BF-EE4A-86E4-6FDF-1779C9798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987" y="2019624"/>
            <a:ext cx="4720425" cy="611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438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7D3B-39FB-80F0-F0E7-8A25A495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8164156-D82C-A39E-9D13-8471A158E939}"/>
              </a:ext>
            </a:extLst>
          </p:cNvPr>
          <p:cNvSpPr txBox="1"/>
          <p:nvPr/>
        </p:nvSpPr>
        <p:spPr>
          <a:xfrm>
            <a:off x="1261638" y="2829225"/>
            <a:ext cx="11470513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</a:pPr>
            <a:r>
              <a:rPr lang="en-US" sz="5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PHASE 5 : VISUALISATION</a:t>
            </a:r>
            <a:endParaRPr lang="en-US" sz="5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A27CF6-FB11-9BD9-1C7C-BE051B31FE70}"/>
              </a:ext>
            </a:extLst>
          </p:cNvPr>
          <p:cNvSpPr txBox="1"/>
          <p:nvPr/>
        </p:nvSpPr>
        <p:spPr>
          <a:xfrm>
            <a:off x="2534855" y="3698111"/>
            <a:ext cx="9560689" cy="378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Exportation et creation des tableaux de bord Power BI .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E19CE-29D8-1A5B-776E-C6750BE4579B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357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129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3540" y="4191238"/>
            <a:ext cx="13223319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données exportées sont visualisées à travers trois tableaux de bord thématiques pour une exploration ciblée des insights.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3540" y="5040511"/>
            <a:ext cx="4273748" cy="2440305"/>
          </a:xfrm>
          <a:prstGeom prst="roundRect">
            <a:avLst>
              <a:gd name="adj" fmla="val 449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40" y="5017651"/>
            <a:ext cx="4273748" cy="914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829" y="4739045"/>
            <a:ext cx="603052" cy="60305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9685" y="4919901"/>
            <a:ext cx="241221" cy="2412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27378" y="5543074"/>
            <a:ext cx="349305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1 : Vue d'ensemble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927378" y="5977771"/>
            <a:ext cx="3826073" cy="643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KPI globaux (Taux de réussite, Score moyen) et performance par module.</a:t>
            </a:r>
            <a:endParaRPr lang="en-US" sz="1550" dirty="0"/>
          </a:p>
        </p:txBody>
      </p:sp>
      <p:sp>
        <p:nvSpPr>
          <p:cNvPr id="11" name="Shape 5"/>
          <p:cNvSpPr/>
          <p:nvPr/>
        </p:nvSpPr>
        <p:spPr>
          <a:xfrm>
            <a:off x="5178266" y="5040511"/>
            <a:ext cx="4273748" cy="2440305"/>
          </a:xfrm>
          <a:prstGeom prst="roundRect">
            <a:avLst>
              <a:gd name="adj" fmla="val 449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266" y="5017651"/>
            <a:ext cx="4273748" cy="9144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555" y="4739045"/>
            <a:ext cx="603052" cy="603052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4411" y="4919901"/>
            <a:ext cx="241221" cy="241221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402104" y="5543074"/>
            <a:ext cx="382607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2 : Analyse d'Engagement</a:t>
            </a:r>
            <a:endParaRPr lang="en-US" sz="1950" dirty="0"/>
          </a:p>
        </p:txBody>
      </p:sp>
      <p:sp>
        <p:nvSpPr>
          <p:cNvPr id="16" name="Text 7"/>
          <p:cNvSpPr/>
          <p:nvPr/>
        </p:nvSpPr>
        <p:spPr>
          <a:xfrm>
            <a:off x="5402104" y="6291858"/>
            <a:ext cx="3826073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Heatmap des clics par semaine, répartition par type d'activité et Top 20 des étudiants engagés.</a:t>
            </a:r>
            <a:endParaRPr lang="en-US" sz="1550" dirty="0"/>
          </a:p>
        </p:txBody>
      </p:sp>
      <p:sp>
        <p:nvSpPr>
          <p:cNvPr id="17" name="Shape 8"/>
          <p:cNvSpPr/>
          <p:nvPr/>
        </p:nvSpPr>
        <p:spPr>
          <a:xfrm>
            <a:off x="9652992" y="5040511"/>
            <a:ext cx="4273748" cy="2440305"/>
          </a:xfrm>
          <a:prstGeom prst="roundRect">
            <a:avLst>
              <a:gd name="adj" fmla="val 4496"/>
            </a:avLst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992" y="5017651"/>
            <a:ext cx="4273748" cy="91440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8281" y="4739045"/>
            <a:ext cx="603052" cy="603052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69137" y="4919901"/>
            <a:ext cx="241221" cy="2412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9876830" y="5543074"/>
            <a:ext cx="3826073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 3 : Risques d'Abandon</a:t>
            </a:r>
            <a:endParaRPr lang="en-US" sz="1950" dirty="0"/>
          </a:p>
        </p:txBody>
      </p:sp>
      <p:sp>
        <p:nvSpPr>
          <p:cNvPr id="22" name="Text 10"/>
          <p:cNvSpPr/>
          <p:nvPr/>
        </p:nvSpPr>
        <p:spPr>
          <a:xfrm>
            <a:off x="9876830" y="6291858"/>
            <a:ext cx="3826073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Taux d'abandon global et par module, Funnel du parcours étudiant et facteurs de risque.</a:t>
            </a:r>
            <a:endParaRPr lang="en-US" sz="15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55368C-BB07-400F-9932-C3271FC7B223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7EEB-F75F-A08D-2F02-B2AFDCE13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C19EF00-BA1D-A9CB-71DA-3503FFBB894C}"/>
              </a:ext>
            </a:extLst>
          </p:cNvPr>
          <p:cNvSpPr txBox="1"/>
          <p:nvPr/>
        </p:nvSpPr>
        <p:spPr>
          <a:xfrm>
            <a:off x="717630" y="694481"/>
            <a:ext cx="145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Dashboard 1: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08EB17-3E76-A8C9-ADD4-A491B2CE95C6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826BED-D7CF-AF25-7D1F-E2F41C32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30" y="1167988"/>
            <a:ext cx="1316041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26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E9792-D9A1-A2B0-6596-E582480E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EBEF044-4B35-00D7-E6B9-46228B63C97C}"/>
              </a:ext>
            </a:extLst>
          </p:cNvPr>
          <p:cNvSpPr txBox="1"/>
          <p:nvPr/>
        </p:nvSpPr>
        <p:spPr>
          <a:xfrm>
            <a:off x="717630" y="694481"/>
            <a:ext cx="145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Dashboard 2: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FF78E-5EDE-DEA0-2CA1-FA5C190E20CB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580F8C-A37A-2DBF-45EC-0889367AE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30" y="1179560"/>
            <a:ext cx="13171990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57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ABD3-3EE4-D7AB-5BAD-380C2A50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70007DB-17C2-BCB4-B25B-55A8A26CD2ED}"/>
              </a:ext>
            </a:extLst>
          </p:cNvPr>
          <p:cNvSpPr txBox="1"/>
          <p:nvPr/>
        </p:nvSpPr>
        <p:spPr>
          <a:xfrm>
            <a:off x="717630" y="694481"/>
            <a:ext cx="145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Dashboard 3: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786554-610E-BDCC-1F3B-634ECF9AF6C5}"/>
              </a:ext>
            </a:extLst>
          </p:cNvPr>
          <p:cNvSpPr/>
          <p:nvPr/>
        </p:nvSpPr>
        <p:spPr>
          <a:xfrm>
            <a:off x="12732152" y="7639291"/>
            <a:ext cx="1759352" cy="486137"/>
          </a:xfrm>
          <a:prstGeom prst="rect">
            <a:avLst/>
          </a:prstGeom>
          <a:solidFill>
            <a:srgbClr val="FFFFFF"/>
          </a:solidFill>
          <a:ln>
            <a:solidFill>
              <a:srgbClr val="FEFD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9EE26D7-434B-0E16-4B3C-35548A0C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30" y="1154961"/>
            <a:ext cx="13160416" cy="684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81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553</Words>
  <Application>Microsoft Office PowerPoint</Application>
  <PresentationFormat>Personnalisé</PresentationFormat>
  <Paragraphs>85</Paragraphs>
  <Slides>31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5" baseType="lpstr">
      <vt:lpstr>Arial</vt:lpstr>
      <vt:lpstr>Instrument Sans Semi Bold</vt:lpstr>
      <vt:lpstr>Instrument Sans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Asus</cp:lastModifiedBy>
  <cp:revision>23</cp:revision>
  <dcterms:created xsi:type="dcterms:W3CDTF">2025-11-10T15:30:39Z</dcterms:created>
  <dcterms:modified xsi:type="dcterms:W3CDTF">2025-11-11T21:26:56Z</dcterms:modified>
</cp:coreProperties>
</file>